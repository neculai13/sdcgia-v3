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e21f04feb4abf" /><Relationship Type="http://schemas.openxmlformats.org/officeDocument/2006/relationships/extended-properties" Target="/docProps/app.xml" Id="R2199ad68f2cc4e69" /><Relationship Type="http://schemas.openxmlformats.org/officeDocument/2006/relationships/officeDocument" Target="/ppt/presentation.xml" Id="R8930c707e6f0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eeb377299463d"/>
  </p:sldMasterIdLst>
  <p:notesMasterIdLst>
    <p:notesMasterId xmlns:r="http://schemas.openxmlformats.org/officeDocument/2006/relationships" r:id="R04d8cf6ceeac4576"/>
  </p:notesMasterIdLst>
  <p:sldIdLst>
    <p:sldId xmlns:r="http://schemas.openxmlformats.org/officeDocument/2006/relationships" id="256" r:id="R2dffc38c39924fb1"/>
    <p:sldId xmlns:r="http://schemas.openxmlformats.org/officeDocument/2006/relationships" id="257" r:id="R353ee0804d7b466c"/>
    <p:sldId xmlns:r="http://schemas.openxmlformats.org/officeDocument/2006/relationships" id="258" r:id="Rfad758eb26e044f4"/>
    <p:sldId xmlns:r="http://schemas.openxmlformats.org/officeDocument/2006/relationships" id="259" r:id="R206a2523ccf64cda"/>
    <p:sldId xmlns:r="http://schemas.openxmlformats.org/officeDocument/2006/relationships" id="260" r:id="R375954ed5eef48f9"/>
    <p:sldId xmlns:r="http://schemas.openxmlformats.org/officeDocument/2006/relationships" id="261" r:id="R66c977eddfff4fc4"/>
    <p:sldId xmlns:r="http://schemas.openxmlformats.org/officeDocument/2006/relationships" id="262" r:id="R9888c372c2784495"/>
    <p:sldId xmlns:r="http://schemas.openxmlformats.org/officeDocument/2006/relationships" id="263" r:id="Rfc1663ea6f8f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2784beece49ca" /><Relationship Type="http://schemas.openxmlformats.org/officeDocument/2006/relationships/slideMaster" Target="/ppt/slideMasters/slideMaster1.xml" Id="R274eeb377299463d" /><Relationship Type="http://schemas.openxmlformats.org/officeDocument/2006/relationships/notesMaster" Target="/ppt/notesMasters/notesMaster1.xml" Id="R04d8cf6ceeac4576" /><Relationship Type="http://schemas.openxmlformats.org/officeDocument/2006/relationships/presProps" Target="/ppt/presProps.xml" Id="R567ea7ce6a6542d7" /><Relationship Type="http://schemas.openxmlformats.org/officeDocument/2006/relationships/tableStyles" Target="/ppt/tableStyles.xml" Id="R3a58f777bcff4fbd" /><Relationship Type="http://schemas.openxmlformats.org/officeDocument/2006/relationships/slide" Target="/ppt/slides/slide1.xml" Id="R2dffc38c39924fb1" /><Relationship Type="http://schemas.openxmlformats.org/officeDocument/2006/relationships/slide" Target="/ppt/slides/slide2.xml" Id="R353ee0804d7b466c" /><Relationship Type="http://schemas.openxmlformats.org/officeDocument/2006/relationships/slide" Target="/ppt/slides/slide3.xml" Id="Rfad758eb26e044f4" /><Relationship Type="http://schemas.openxmlformats.org/officeDocument/2006/relationships/slide" Target="/ppt/slides/slide4.xml" Id="R206a2523ccf64cda" /><Relationship Type="http://schemas.openxmlformats.org/officeDocument/2006/relationships/slide" Target="/ppt/slides/slide5.xml" Id="R375954ed5eef48f9" /><Relationship Type="http://schemas.openxmlformats.org/officeDocument/2006/relationships/slide" Target="/ppt/slides/slide6.xml" Id="R66c977eddfff4fc4" /><Relationship Type="http://schemas.openxmlformats.org/officeDocument/2006/relationships/slide" Target="/ppt/slides/slide7.xml" Id="R9888c372c2784495" /><Relationship Type="http://schemas.openxmlformats.org/officeDocument/2006/relationships/slide" Target="/ppt/slides/slide8.xml" Id="Rfc1663ea6f8f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cd8a56708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583e955164d51" /><Relationship Type="http://schemas.openxmlformats.org/officeDocument/2006/relationships/notesMaster" Target="/ppt/notesMasters/notesMaster1.xml" Id="R423bef2c558c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c088a9a2264852" /><Relationship Type="http://schemas.openxmlformats.org/officeDocument/2006/relationships/notesMaster" Target="/ppt/notesMasters/notesMaster1.xml" Id="Rd32ab42abb0a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c7c2fd09a04cb7" /><Relationship Type="http://schemas.openxmlformats.org/officeDocument/2006/relationships/notesMaster" Target="/ppt/notesMasters/notesMaster1.xml" Id="R6cb912368d5e48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a8516a4b741fd" /><Relationship Type="http://schemas.openxmlformats.org/officeDocument/2006/relationships/notesMaster" Target="/ppt/notesMasters/notesMaster1.xml" Id="Ra7a8efd8c482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60b7ee0c94411a" /><Relationship Type="http://schemas.openxmlformats.org/officeDocument/2006/relationships/notesMaster" Target="/ppt/notesMasters/notesMaster1.xml" Id="R149f53f88293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ed0944de58425d" /><Relationship Type="http://schemas.openxmlformats.org/officeDocument/2006/relationships/notesMaster" Target="/ppt/notesMasters/notesMaster1.xml" Id="Re4b26448335344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dadfb9b7784e5a" /><Relationship Type="http://schemas.openxmlformats.org/officeDocument/2006/relationships/notesMaster" Target="/ppt/notesMasters/notesMaster1.xml" Id="Ra1d729d7d49e41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9771873e24908" /><Relationship Type="http://schemas.openxmlformats.org/officeDocument/2006/relationships/notesMaster" Target="/ppt/notesMasters/notesMaster1.xml" Id="R9b12f13b00e9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nou, independent de livrabilele vechi. Corpusul v3 combină toate textele ne goale eligibile și generările disponibile.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Sursa, grupul de similitudine și textul normalizat exact sunt disjuncte între partiții. Nu pretindem independență semantică certificată. Train 5557, calibration 1194, test 1199.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Numerele reprezintă textele efectiv incluse: Qwen3.5 1635, Qwen2.5 720, Gemma 369, ChatGPT web 702. Ultimele includ 2 piloturi cu model necunoscut. Prompturi și setări: generare/prompturi.jsonl, modele_setari.json. Setările numerice UI nu sunt cunoscute.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Configurația: rezultate/run_config.json. Bază 4 biți, LoRA r16 alpha16, cap de decizie. Antrenarea a continuat din checkpoint100. Memoria 6,94 GiB raportată pentru segmentul reluat nu este neapărat maximul întregii rulări. Nu raportăm runtime-ul reluării ca durată totală.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Sursa: rezultate/test_metrics.json și test_predictions.jsonl. Matrice: TN679, FP0, FN0, TP520. Calibrare 1193/1194. Wilson95 recall AI 99,267%-100%, FPR 0%-0,563%, fără corecție pentru dependențe.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Grupele au între 8 și 132 texte AI. Controalele umane asociate pot apărea în mai multe rânduri. Nu însumăm denominatorii și nu construim un clasament pe aceste eșantioane.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Rezultatele sunt in-distribution, cu modele cunoscute în train. Fiecare etichetă web are 15 texte AI în test. Cele 2 piloturi ChatGPT nu au model specific certificat și nu apar în test.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Rezultatul de 100% este intern. Sursele au fost evaluate și anterior în dezvoltarea proiectului. Un test nou ar folosi publicații și generatoare absente din train, cu lungime și formatare comparabile. Repository-ul conține datele și codul, nu arhiva greutăților istorice. Adaptarea GitHub este verificată local, fără o nouă antrenare GPU integrală.</a:t>
            </a:r>
          </a:p>
          <a:p xmlns:a="http://schemas.openxmlformats.org/drawingml/2006/main">
            <a:r>
              <a:t>Surse: raport.pdf, rezultate/test_metrics.json, rezultate/run_config.json și date/SDCGIA_date_complete_v3.zip.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1c8daeed749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15d7c454b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3df3fdb4a4a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144f7a4b84c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4a4d1943c4e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5b67f43fa44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6C7C95-C908-45B5-9AEC-5F4129F36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CB3C15-D80D-4E09-8E43-2827F2A708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484448-8DE0-41CF-B84D-6C66B605F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21D9C7-6DE9-4419-80B3-DE915D4CB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A6E2F2-4C0B-47F0-80AB-7AC49A4507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88C9F6-3E4E-4ADA-B5BF-11157F115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218D9A-E7ED-46F4-A119-D56514C9C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B0CB3F-4054-4FEC-8A24-31E7873F6D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EFDF98-BF4C-4F48-A2B6-8DD064168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6004E3-247F-43AA-AC34-7B4E528535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8a453dce949eb" /><Relationship Type="http://schemas.openxmlformats.org/officeDocument/2006/relationships/slideLayout" Target="/ppt/slideLayouts/slideLayout1.xml" Id="Re2d8fde588884ab2" /><Relationship Type="http://schemas.openxmlformats.org/officeDocument/2006/relationships/slideLayout" Target="/ppt/slideLayouts/slideLayout2.xml" Id="Reb2a499c6ed2490f" /><Relationship Type="http://schemas.openxmlformats.org/officeDocument/2006/relationships/slideLayout" Target="/ppt/slideLayouts/slideLayout3.xml" Id="Rb5c9f81ba25d4f05" /><Relationship Type="http://schemas.openxmlformats.org/officeDocument/2006/relationships/slideLayout" Target="/ppt/slideLayouts/slideLayout4.xml" Id="Rac76e0f828824310" /><Relationship Type="http://schemas.openxmlformats.org/officeDocument/2006/relationships/slideLayout" Target="/ppt/slideLayouts/slideLayout5.xml" Id="R5d0d19b329244a0d" /><Relationship Type="http://schemas.openxmlformats.org/officeDocument/2006/relationships/slideLayout" Target="/ppt/slideLayouts/slideLayout6.xml" Id="R2cee116ce89649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8fde588884ab2"/>
    <p:sldLayoutId xmlns:r="http://schemas.openxmlformats.org/officeDocument/2006/relationships" id="2147483650" r:id="Reb2a499c6ed2490f"/>
    <p:sldLayoutId xmlns:r="http://schemas.openxmlformats.org/officeDocument/2006/relationships" id="2147483651" r:id="Rb5c9f81ba25d4f05"/>
    <p:sldLayoutId xmlns:r="http://schemas.openxmlformats.org/officeDocument/2006/relationships" id="2147483652" r:id="Rac76e0f828824310"/>
    <p:sldLayoutId xmlns:r="http://schemas.openxmlformats.org/officeDocument/2006/relationships" id="2147483653" r:id="R5d0d19b329244a0d"/>
    <p:sldLayoutId xmlns:r="http://schemas.openxmlformats.org/officeDocument/2006/relationships" id="2147483654" r:id="R2cee116ce89649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5b5ed12ab4afe" /><Relationship Type="http://schemas.openxmlformats.org/officeDocument/2006/relationships/notesSlide" Target="/ppt/notesSlides/notesSlide1.xml" Id="R791fe92f0ec44a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e47b0fd444d8d" /><Relationship Type="http://schemas.openxmlformats.org/officeDocument/2006/relationships/chart" Target="/ppt/slides/charts/chart1.xml" Id="Rce48f1194c114d2f" /><Relationship Type="http://schemas.openxmlformats.org/officeDocument/2006/relationships/notesSlide" Target="/ppt/notesSlides/notesSlide2.xml" Id="R7b91620b6cce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e28f585ca44a2" /><Relationship Type="http://schemas.openxmlformats.org/officeDocument/2006/relationships/chart" Target="/ppt/slides/charts/chart2.xml" Id="R6df70145231a4da5" /><Relationship Type="http://schemas.openxmlformats.org/officeDocument/2006/relationships/notesSlide" Target="/ppt/notesSlides/notesSlide3.xml" Id="Rcf94147cc967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33ef4b8334505" /><Relationship Type="http://schemas.openxmlformats.org/officeDocument/2006/relationships/notesSlide" Target="/ppt/notesSlides/notesSlide4.xml" Id="Rfbbdfedda80947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2269123454358" /><Relationship Type="http://schemas.openxmlformats.org/officeDocument/2006/relationships/notesSlide" Target="/ppt/notesSlides/notesSlide5.xml" Id="R66ac6c64c489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5c1a3938a488f" /><Relationship Type="http://schemas.openxmlformats.org/officeDocument/2006/relationships/notesSlide" Target="/ppt/notesSlides/notesSlide6.xml" Id="Ra6682050cb3b4b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85fa320a944d5" /><Relationship Type="http://schemas.openxmlformats.org/officeDocument/2006/relationships/notesSlide" Target="/ppt/notesSlides/notesSlide7.xml" Id="R6f292a9e85c84e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2f49feb504feb" /><Relationship Type="http://schemas.openxmlformats.org/officeDocument/2006/relationships/notesSlide" Target="/ppt/notesSlides/notesSlide8.xml" Id="Rc7fc2f52429542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Uman</c:v>
          </c:tx>
          <c:spPr>
            <a:solidFill xmlns:a="http://schemas.openxmlformats.org/drawingml/2006/main">
              <a:srgbClr val="11243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Antrenare (4.448)</c:v>
                </c:pt>
                <c:pt idx="1">
                  <c:v>Calibrare (955)</c:v>
                </c:pt>
                <c:pt idx="2">
                  <c:v>Test (954)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3166</c:v>
                </c:pt>
                <c:pt idx="1">
                  <c:v>679</c:v>
                </c:pt>
                <c:pt idx="2">
                  <c:v>679</c:v>
                </c:pt>
              </c:numCache>
            </c:numRef>
          </c:val>
        </c:ser>
        <c:ser>
          <c:idx val="1"/>
          <c:order val="1"/>
          <c:tx>
            <c:v>AI</c:v>
          </c:tx>
          <c:spPr>
            <a:solidFill xmlns:a="http://schemas.openxmlformats.org/drawingml/2006/main">
              <a:srgbClr val="168B8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Antrenare (4.448)</c:v>
                </c:pt>
                <c:pt idx="1">
                  <c:v>Calibrare (955)</c:v>
                </c:pt>
                <c:pt idx="2">
                  <c:v>Test (954)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2391</c:v>
                </c:pt>
                <c:pt idx="1">
                  <c:v>515</c:v>
                </c:pt>
                <c:pt idx="2">
                  <c:v>520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124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Texte AI</c:v>
          </c:tx>
          <c:spPr>
            <a:solidFill xmlns:a="http://schemas.openxmlformats.org/drawingml/2006/main">
              <a:srgbClr val="245CB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Qwen3.5</c:v>
                </c:pt>
                <c:pt idx="1">
                  <c:v>Qwen2.5</c:v>
                </c:pt>
                <c:pt idx="2">
                  <c:v>Gemma 3</c:v>
                </c:pt>
                <c:pt idx="3">
                  <c:v>ChatGPT web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1635</c:v>
                </c:pt>
                <c:pt idx="1">
                  <c:v>720</c:v>
                </c:pt>
                <c:pt idx="2">
                  <c:v>369</c:v>
                </c:pt>
                <c:pt idx="3">
                  <c:v>702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124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30A0D-EC6A-4FC5-B561-5819F25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95C69-D6EE-4F94-93BF-E6A6379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E934-7053-4399-BC69-4719D4D2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C9E9"/>
                </a:solidFill>
                <a:latin typeface="Arial"/>
                <a:ea typeface="Arial"/>
                <a:cs typeface="Arial"/>
              </a:rPr>
              <a:t>SDCGIA / TEMA 6 / EXPERIMENT 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5101C-73F4-4A64-A52F-36D00FB1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Detectarea originii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textelor în limba română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5C090-3F6F-4097-AFE2-21BF87F7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Adaptarea Qwen3.5-4B cu Unsloth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B76D8-F952-4BE6-A825-3C1782D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Corpus complet: 7.950 de texte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UNIMEDIA, Qwen, Gemma și generări ChatGPT</a:t>
            </a:r>
          </a:p>
        </p:txBody>
      </p:sp>
    </p:spTree>
    <p:extLst>
      <p:ext uri="{BB962C8B-B14F-4D97-AF65-F5344CB8AC3E}">
        <p14:creationId xmlns:p14="http://schemas.microsoft.com/office/powerpoint/2010/main" val="1605416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CF357-1966-44EE-AA82-DCA535B9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Corpusul și protocolul de evaluare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80814-5B8F-47D5-B09D-F31097A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94EF6D2-F9CB-46B5-9E7D-90AE723420EA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48f1194c114d2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841FF-52E6-47AF-A458-B93FC68F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5CB3"/>
                </a:solidFill>
                <a:latin typeface="Arial"/>
                <a:ea typeface="Arial"/>
                <a:cs typeface="Arial"/>
              </a:rPr>
              <a:t>7.950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D3161-8C18-46D7-B058-6CA55B03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texte în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8AC22-FA82-4E20-81C3-5AAD731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4.524 umane</a:t>
            </a:r>
          </a:p>
          <a:p xmlns:a="http://schemas.openxmlformats.org/drawingml/2006/main">
            <a:pPr>
              <a:defRPr sz="2250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3.426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3FB8D-EABC-4373-BDF9-FF989D5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Separare pe sursă și similitudine, cu păstrarea perechilor uman–AI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C0EAE-A915-4683-9323-319D5D62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UNIMEDIA, 2018. Autoratul uman rămâne o presupunere istorică.</a:t>
            </a:r>
          </a:p>
        </p:txBody>
      </p:sp>
    </p:spTree>
    <p:extLst>
      <p:ext uri="{BB962C8B-B14F-4D97-AF65-F5344CB8AC3E}">
        <p14:creationId xmlns:p14="http://schemas.microsoft.com/office/powerpoint/2010/main" val="1602581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538DC-881B-4E84-8A25-80620C3C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Generarea corpusului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4E013-5EF6-4168-96DC-B66C035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B61511A-1C79-46EA-A6AC-64A04480A2CD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67627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f70145231a4da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17FD-0EAA-43C1-80E1-DA634643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CB3"/>
                </a:solidFill>
                <a:latin typeface="Arial"/>
                <a:ea typeface="Arial"/>
                <a:cs typeface="Arial"/>
              </a:rPr>
              <a:t>Prompt în română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35DE7-F2ED-4879-BCBA-A71C7B01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Temă, dată de referință</a:t>
            </a:r>
          </a:p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și entități 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5A927-0618-4883-B041-9981C4F6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Fără corpul articolului,</a:t>
            </a:r>
          </a:p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titlul original sau lista</a:t>
            </a:r>
          </a:p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faptelor esențiale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AE2D8-070E-4249-B36B-0E9C08D2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3.426 răspunsuri AI ne goale, inclusiv variante pilot și profiluri de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95F03-AE19-41C5-B47F-FAB30019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Ollama și llama.cpp local. Pentru web păstrăm eticheta UI, fără parametri numerici inventați.</a:t>
            </a:r>
          </a:p>
        </p:txBody>
      </p:sp>
    </p:spTree>
    <p:extLst>
      <p:ext uri="{BB962C8B-B14F-4D97-AF65-F5344CB8AC3E}">
        <p14:creationId xmlns:p14="http://schemas.microsoft.com/office/powerpoint/2010/main" val="1928215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7D8A1-CF13-4C31-B2A5-9DB6C7D1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Adaptarea detectorului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34818-4E14-4BD1-B68D-38528B48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B753E-6CD4-4383-8E8D-135E205A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Qwen3.5-4B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EBCFE-E65B-4E0A-8668-BF6B55DD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Bază în 4 biți, adaptoare LoRA</a:t>
            </a:r>
          </a:p>
          <a:p xmlns:a="http://schemas.openxmlformats.org/drawingml/2006/main">
            <a:pPr>
              <a:defRPr sz="21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și cap de decizie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82BE6-546F-4690-83E5-8D4DB8F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71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2,10%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79CE-D4D6-418D-ADF1-CF6E7E82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parametri antrenați, aproximativ 64,5 milioane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1968C-B96C-4174-94A2-FAA6FF0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9C9E9"/>
                </a:solidFill>
                <a:latin typeface="Arial"/>
                <a:ea typeface="Arial"/>
                <a:cs typeface="Arial"/>
              </a:rPr>
              <a:t>Antrenare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71125-F004-41E4-B2C0-FBC1F7B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epocă, 348 pași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Batch efectiv 16, LR 2 × 10⁻⁴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D972-D841-4194-B1FB-E30214B6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623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9C9E9"/>
                </a:solidFill>
                <a:latin typeface="Arial"/>
                <a:ea typeface="Arial"/>
                <a:cs typeface="Arial"/>
              </a:rPr>
              <a:t>Adaptare eficientă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78D70-CD33-491A-A9CA-FC1E935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LoRA r = 16, alpha = 16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12.288, fără trunchiere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4C192-5094-4795-8409-E5D5D002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Tesla T4 în Colab. Calea explicită K/V permite atenție eficientă pentru articolele lungi.</a:t>
            </a:r>
          </a:p>
        </p:txBody>
      </p:sp>
    </p:spTree>
    <p:extLst>
      <p:ext uri="{BB962C8B-B14F-4D97-AF65-F5344CB8AC3E}">
        <p14:creationId xmlns:p14="http://schemas.microsoft.com/office/powerpoint/2010/main" val="276954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C4D24-77A0-40D1-A1A0-9F3F3C6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Testul v3: 1.199 clasificări corecte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CFE24-3265-4406-BF73-7C9A0EDF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608D9-DEEA-4206-9891-7FC5477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Origine reală / predicție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8C8F5-8CFC-457C-8626-A6D224D264B0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63436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2114550"/>
                <a:gridCol w="2114550"/>
              </a:tblGrid>
              <a:tr h="8890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Uman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Uman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450" b="1">
                          <a:solidFill>
                            <a:srgbClr val="168B8A"/>
                          </a:solidFill>
                          <a:latin typeface="Arial"/>
                          <a:ea typeface="Arial"/>
                          <a:cs typeface="Arial"/>
                        </a:rPr>
                        <a:t>679</a:t>
                      </a:r>
                    </a:p>
                  </a:txBody>
                  <a:tcPr marL="91440" marR="91440" marT="45720" marB="45720">
                    <a:solidFill>
                      <a:srgbClr val="DCED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450" b="1">
                          <a:solidFill>
                            <a:srgbClr val="B65D1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AEBDD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450" b="1">
                          <a:solidFill>
                            <a:srgbClr val="B65D1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450" b="1">
                          <a:solidFill>
                            <a:srgbClr val="168B8A"/>
                          </a:solidFill>
                          <a:latin typeface="Arial"/>
                          <a:ea typeface="Arial"/>
                          <a:cs typeface="Arial"/>
                        </a:rPr>
                        <a:t>520</a:t>
                      </a:r>
                    </a:p>
                  </a:txBody>
                  <a:tcPr marL="91440" marR="91440" marT="45720" marB="45720">
                    <a:solidFill>
                      <a:srgbClr val="DCED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94E6B-EE53-45CB-B6E0-F732163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5CB3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BE60E-42E3-4219-85BD-0A8A9CD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337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acuratețe pe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9F148-8703-4267-AB0E-A6CE0E2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0%   fals pozitive</a:t>
            </a:r>
          </a:p>
          <a:p xmlns:a="http://schemas.openxmlformats.org/drawingml/2006/main">
            <a:pPr>
              <a:defRPr sz="21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100%   recall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92665-AF2C-4895-AF38-89E0FB8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43A"/>
                </a:solidFill>
                <a:latin typeface="Arial"/>
                <a:ea typeface="Arial"/>
                <a:cs typeface="Arial"/>
              </a:rPr>
              <a:t>Prag fix 0,5. Calibrare pe 1.194 de exemple separate, fără ajustări pe 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7C54C-DD68-41C3-BBEA-0BD9274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679 texte umane și 520 AI. Nicio eroare observată în testul intern.</a:t>
            </a:r>
          </a:p>
        </p:txBody>
      </p:sp>
    </p:spTree>
    <p:extLst>
      <p:ext uri="{BB962C8B-B14F-4D97-AF65-F5344CB8AC3E}">
        <p14:creationId xmlns:p14="http://schemas.microsoft.com/office/powerpoint/2010/main" val="1389444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03400-5B4D-4C3A-90D0-4B0E015E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Rezultate pe generatoarele locale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92F7C-10BA-4A66-879E-946CA78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E469C-B1F6-467A-9F51-464B8E4EB91E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3476625"/>
                <a:gridCol w="1962150"/>
              </a:tblGrid>
              <a:tr h="35502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Model-sursă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 detectate / test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/ FN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Qwen3.5 0.8B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132 / 132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Qwen3.5 2B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83 / 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Qwen3.5 4B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33 / 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Qwen2.5 0.5B / llama.cpp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31 / 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Qwen2.5 1.5B / llama.cpp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31 / 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Qwen2.5 3B / llama.cpp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31 / 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Qwen2.5 1.5B / Ollama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8 /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Qwen2.5 3B / Ollama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8 /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Gemma 3 270M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24 / 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Gemma 3 1B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34 / 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4853F-8AA9-45FA-BAF0-D4B6681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5CB3"/>
                </a:solidFill>
                <a:latin typeface="Arial"/>
                <a:ea typeface="Arial"/>
                <a:cs typeface="Arial"/>
              </a:rPr>
              <a:t>100% recall AI în fiecare grup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61E79-999D-4562-BC19-0B74088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Controalele umane asociate se pot repeta între grupuri. Rezultatele nu stabilesc un clasament.</a:t>
            </a:r>
          </a:p>
        </p:txBody>
      </p:sp>
    </p:spTree>
    <p:extLst>
      <p:ext uri="{BB962C8B-B14F-4D97-AF65-F5344CB8AC3E}">
        <p14:creationId xmlns:p14="http://schemas.microsoft.com/office/powerpoint/2010/main" val="618856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09E8E-CE27-46E5-816F-FE09347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4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43A"/>
                </a:solidFill>
                <a:latin typeface="Arial"/>
                <a:ea typeface="Arial"/>
                <a:cs typeface="Arial"/>
              </a:rPr>
              <a:t>Rezultate pe generările ChatGPT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70D2C-C682-4FBC-832D-E6A73AC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EBB5-8D1C-4637-95A1-877FB31B84FD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3476625"/>
                <a:gridCol w="1962150"/>
              </a:tblGrid>
              <a:tr h="428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Eticheta înregistrată în interfață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 detectate / test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/ FN</a:t>
                      </a:r>
                    </a:p>
                  </a:txBody>
                  <a:tcPr marL="91440" marR="91440" marT="45720" marB="45720">
                    <a:solidFill>
                      <a:srgbClr val="11243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GPT-5.6 Luna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GPT-5.6 Sol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GPT-5.6 Terra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GPT-6 Astra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GPT-6 Luna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GPT-6 Sol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GPT-6.1 Sol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15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43A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6BC89-126E-4E11-B2AB-022ADD2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C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CB3"/>
                </a:solidFill>
                <a:latin typeface="Arial"/>
                <a:ea typeface="Arial"/>
                <a:cs typeface="Arial"/>
              </a:rPr>
              <a:t>15 texte AI în fiecare grup, toate detectate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1F9C1-CB2F-4960-B084-2F1EACA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Modelele apar și în antrenare. Numele web sunt etichete UI, nu identificatori API certificați.</a:t>
            </a:r>
          </a:p>
          <a:p xmlns:a="http://schemas.openxmlformats.org/drawingml/2006/main">
            <a:pPr>
              <a:defRPr sz="1575" b="0">
                <a:solidFill>
                  <a:srgbClr val="5F6F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F80"/>
                </a:solidFill>
                <a:latin typeface="Arial"/>
                <a:ea typeface="Arial"/>
                <a:cs typeface="Arial"/>
              </a:rPr>
              <a:t>Cele două texte pilot cu model neidentificat nu apar în test.</a:t>
            </a:r>
          </a:p>
        </p:txBody>
      </p:sp>
    </p:spTree>
    <p:extLst>
      <p:ext uri="{BB962C8B-B14F-4D97-AF65-F5344CB8AC3E}">
        <p14:creationId xmlns:p14="http://schemas.microsoft.com/office/powerpoint/2010/main" val="857350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42802-DB62-4607-86E8-3EAE89B6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Concluzii și reproducere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DFF4F-3CEE-4C7F-BB4E-27D6EEB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6B19C-EF3E-4DAA-8B1F-A53FB87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Performanță ridicată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în corpusul studiat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16D3B-04C5-4227-BF03-5FF47443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O singură publicație și generatoare cunoscute limitează generalizarea.</a:t>
            </a:r>
          </a:p>
          <a:p xmlns:a="http://schemas.openxmlformats.org/drawingml/2006/main">
            <a:pPr>
              <a:defRPr sz="2100" b="0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C9E9"/>
                </a:solidFill>
                <a:latin typeface="Arial"/>
                <a:ea typeface="Arial"/>
                <a:cs typeface="Arial"/>
              </a:rPr>
              <a:t>Împărțirea v3 reutilizează surse evaluate anterior. Testul rămâne exploratoriu.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B642C-29B2-41D4-8A26-68E0327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Codul, textele și setările sunt disponibile pentru rulare în Colab.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A036B-0586-4D2B-800F-F2E7F34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9C9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9C9E9"/>
                </a:solidFill>
                <a:latin typeface="Arial"/>
                <a:ea typeface="Arial"/>
                <a:cs typeface="Arial"/>
              </a:rPr>
              <a:t>github.com/Neculai13/SDCGIA-v3</a:t>
            </a:r>
          </a:p>
        </p:txBody>
      </p:sp>
    </p:spTree>
    <p:extLst>
      <p:ext uri="{BB962C8B-B14F-4D97-AF65-F5344CB8AC3E}">
        <p14:creationId xmlns:p14="http://schemas.microsoft.com/office/powerpoint/2010/main" val="1187570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2026-10-23T10:12:19.4270000Z</dcterms:created>
  <dcterms:modified xsi:type="dcterms:W3CDTF">2026-10-23T10:12:19.4270000Z</dcterms:modified>
</coreProperties>
</file>