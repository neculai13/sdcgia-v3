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ffa170c16649e2" /><Relationship Type="http://schemas.openxmlformats.org/officeDocument/2006/relationships/extended-properties" Target="/docProps/app.xml" Id="R1b102e9fcd474b1d" /><Relationship Type="http://schemas.openxmlformats.org/officeDocument/2006/relationships/officeDocument" Target="/ppt/presentation.xml" Id="Ree64eea7bed24b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682ade47f046f5"/>
  </p:sldMasterIdLst>
  <p:notesMasterIdLst>
    <p:notesMasterId xmlns:r="http://schemas.openxmlformats.org/officeDocument/2006/relationships" r:id="R2e2d5ca8a30c49a0"/>
  </p:notesMasterIdLst>
  <p:sldIdLst>
    <p:sldId xmlns:r="http://schemas.openxmlformats.org/officeDocument/2006/relationships" id="256" r:id="Re6a003aa53cc49f3"/>
    <p:sldId xmlns:r="http://schemas.openxmlformats.org/officeDocument/2006/relationships" id="257" r:id="R3e652cf667204e46"/>
    <p:sldId xmlns:r="http://schemas.openxmlformats.org/officeDocument/2006/relationships" id="258" r:id="R22158f1ff24e4c36"/>
    <p:sldId xmlns:r="http://schemas.openxmlformats.org/officeDocument/2006/relationships" id="259" r:id="Rf27733a1b7094498"/>
    <p:sldId xmlns:r="http://schemas.openxmlformats.org/officeDocument/2006/relationships" id="260" r:id="Re0f0076e882d4fe4"/>
    <p:sldId xmlns:r="http://schemas.openxmlformats.org/officeDocument/2006/relationships" id="261" r:id="Ree0dd73af0a5414a"/>
    <p:sldId xmlns:r="http://schemas.openxmlformats.org/officeDocument/2006/relationships" id="262" r:id="Ra34812a1cb7645eb"/>
    <p:sldId xmlns:r="http://schemas.openxmlformats.org/officeDocument/2006/relationships" id="263" r:id="Rcecc0c7fe8c749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1fd383c2dc4d80" /><Relationship Type="http://schemas.openxmlformats.org/officeDocument/2006/relationships/slideMaster" Target="/ppt/slideMasters/slideMaster1.xml" Id="R85682ade47f046f5" /><Relationship Type="http://schemas.openxmlformats.org/officeDocument/2006/relationships/notesMaster" Target="/ppt/notesMasters/notesMaster1.xml" Id="R2e2d5ca8a30c49a0" /><Relationship Type="http://schemas.openxmlformats.org/officeDocument/2006/relationships/presProps" Target="/ppt/presProps.xml" Id="R7640762781a441e3" /><Relationship Type="http://schemas.openxmlformats.org/officeDocument/2006/relationships/tableStyles" Target="/ppt/tableStyles.xml" Id="R71b484fa59aa4d6b" /><Relationship Type="http://schemas.openxmlformats.org/officeDocument/2006/relationships/slide" Target="/ppt/slides/slide1.xml" Id="Re6a003aa53cc49f3" /><Relationship Type="http://schemas.openxmlformats.org/officeDocument/2006/relationships/slide" Target="/ppt/slides/slide2.xml" Id="R3e652cf667204e46" /><Relationship Type="http://schemas.openxmlformats.org/officeDocument/2006/relationships/slide" Target="/ppt/slides/slide3.xml" Id="R22158f1ff24e4c36" /><Relationship Type="http://schemas.openxmlformats.org/officeDocument/2006/relationships/slide" Target="/ppt/slides/slide4.xml" Id="Rf27733a1b7094498" /><Relationship Type="http://schemas.openxmlformats.org/officeDocument/2006/relationships/slide" Target="/ppt/slides/slide5.xml" Id="Re0f0076e882d4fe4" /><Relationship Type="http://schemas.openxmlformats.org/officeDocument/2006/relationships/slide" Target="/ppt/slides/slide6.xml" Id="Ree0dd73af0a5414a" /><Relationship Type="http://schemas.openxmlformats.org/officeDocument/2006/relationships/slide" Target="/ppt/slides/slide7.xml" Id="Ra34812a1cb7645eb" /><Relationship Type="http://schemas.openxmlformats.org/officeDocument/2006/relationships/slide" Target="/ppt/slides/slide8.xml" Id="Rcecc0c7fe8c749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f80abba87f4a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3ccc6b4036495c" /><Relationship Type="http://schemas.openxmlformats.org/officeDocument/2006/relationships/notesMaster" Target="/ppt/notesMasters/notesMaster1.xml" Id="R15a015d66a6e4d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32802bed754e04" /><Relationship Type="http://schemas.openxmlformats.org/officeDocument/2006/relationships/notesMaster" Target="/ppt/notesMasters/notesMaster1.xml" Id="Raa5ff95616324a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1f5f62dc84415e" /><Relationship Type="http://schemas.openxmlformats.org/officeDocument/2006/relationships/notesMaster" Target="/ppt/notesMasters/notesMaster1.xml" Id="R5dfd5fe2f43143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562dfbee444541" /><Relationship Type="http://schemas.openxmlformats.org/officeDocument/2006/relationships/notesMaster" Target="/ppt/notesMasters/notesMaster1.xml" Id="R1a3573a7b4184a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de7d06e42d4b16" /><Relationship Type="http://schemas.openxmlformats.org/officeDocument/2006/relationships/notesMaster" Target="/ppt/notesMasters/notesMaster1.xml" Id="Ra00b6a75a1ad4b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8a36598532498d" /><Relationship Type="http://schemas.openxmlformats.org/officeDocument/2006/relationships/notesMaster" Target="/ppt/notesMasters/notesMaster1.xml" Id="Rf54f665e85cc48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9df49fd3ea479e" /><Relationship Type="http://schemas.openxmlformats.org/officeDocument/2006/relationships/notesMaster" Target="/ppt/notesMasters/notesMaster1.xml" Id="R12005d1537844e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74932addf044d6" /><Relationship Type="http://schemas.openxmlformats.org/officeDocument/2006/relationships/notesMaster" Target="/ppt/notesMasters/notesMaster1.xml" Id="R85873de614fa43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Experiment nou, independent de livrabilele vechi. Corpusul v3 combină toate textele ne goale eligibile și generările disponibile.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Sursa, grupul de similitudine și textul normalizat exact sunt disjuncte între partiții. Nu pretindem independență semantică certificată. Train 5557, calibration 1194, test 1199.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Numerele reprezintă textele efectiv incluse: Qwen3.5 1635, Qwen2.5 720, Gemma 369, ChatGPT web 702. Ultimele includ 2 piloturi cu model necunoscut. Prompturi și setări: generare/prompturi.jsonl, modele_setari.json. Setările numerice UI nu sunt cunoscute.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Configurația: rezultate/run_config.json. Bază 4 biți, LoRA r16 alpha16, cap de decizie. Antrenarea a continuat din checkpoint100. Memoria 6,94 GiB raportată pentru segmentul reluat nu este neapărat maximul întregii rulări. Nu raportăm runtime-ul reluării ca durată totală.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Sursa: rezultate/test_metrics.json și test_predictions.jsonl. Matrice: TN679, FP0, FN0, TP520. Calibrare 1193/1194. Wilson95 recall AI 99,267%-100%, FPR 0%-0,563%, fără corecție pentru dependențe.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Grupele au între 8 și 132 texte AI. Controalele umane asociate pot apărea în mai multe rânduri. Nu însumăm denominatorii și nu construim un clasament pe aceste eșantioane.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Rezultatele sunt in-distribution, cu modele cunoscute în train. Fiecare etichetă web are 15 texte AI în test. Cele 2 piloturi ChatGPT nu au model specific certificat și nu apar în test.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Rezultatul de 100% este intern. Sursele au fost evaluate și anterior în dezvoltarea proiectului. Un test nou ar folosi publicații și generatoare absente din train, cu lungime și formatare comparabile. Repository-ul conține datele și codul, nu arhiva greutăților istorice. Adaptarea GitHub este verificată local, fără o nouă antrenare GPU integrală.</a:t>
            </a:r>
          </a:p>
          <a:p xmlns:a="http://schemas.openxmlformats.org/drawingml/2006/main">
            <a:r>
              <a:t>Surse: raport.pdf, rezultate/test_metrics.json, rezultate/run_config.json și date/SDCGIA_date_complete_v3.zip.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d915660cd46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67288dde0746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7dcd9ce154b7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150f216ef41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1efa2766447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5a504288f24b0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6C7C95-C908-45B5-9AEC-5F4129F36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CCB3C15-D80D-4E09-8E43-2827F2A708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4484448-8DE0-41CF-B84D-6C66B605F3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21D9C7-6DE9-4419-80B3-DE915D4CBE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A6E2F2-4C0B-47F0-80AB-7AC49A4507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788C9F6-3E4E-4ADA-B5BF-11157F1159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218D9A-E7ED-46F4-A119-D56514C9CA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B0CB3F-4054-4FEC-8A24-31E7873F6D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EFDF98-BF4C-4F48-A2B6-8DD064168B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6004E3-247F-43AA-AC34-7B4E52853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e9948ed09c4773" /><Relationship Type="http://schemas.openxmlformats.org/officeDocument/2006/relationships/slideLayout" Target="/ppt/slideLayouts/slideLayout1.xml" Id="R0715717d8ad64669" /><Relationship Type="http://schemas.openxmlformats.org/officeDocument/2006/relationships/slideLayout" Target="/ppt/slideLayouts/slideLayout2.xml" Id="R55bd5fd37b1c4750" /><Relationship Type="http://schemas.openxmlformats.org/officeDocument/2006/relationships/slideLayout" Target="/ppt/slideLayouts/slideLayout3.xml" Id="R99980a46157d4a9f" /><Relationship Type="http://schemas.openxmlformats.org/officeDocument/2006/relationships/slideLayout" Target="/ppt/slideLayouts/slideLayout4.xml" Id="R567a4a157918456f" /><Relationship Type="http://schemas.openxmlformats.org/officeDocument/2006/relationships/slideLayout" Target="/ppt/slideLayouts/slideLayout5.xml" Id="Rb8bf672dfde1436f" /><Relationship Type="http://schemas.openxmlformats.org/officeDocument/2006/relationships/slideLayout" Target="/ppt/slideLayouts/slideLayout6.xml" Id="R3c1b6b4a5e91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15717d8ad64669"/>
    <p:sldLayoutId xmlns:r="http://schemas.openxmlformats.org/officeDocument/2006/relationships" id="2147483650" r:id="R55bd5fd37b1c4750"/>
    <p:sldLayoutId xmlns:r="http://schemas.openxmlformats.org/officeDocument/2006/relationships" id="2147483651" r:id="R99980a46157d4a9f"/>
    <p:sldLayoutId xmlns:r="http://schemas.openxmlformats.org/officeDocument/2006/relationships" id="2147483652" r:id="R567a4a157918456f"/>
    <p:sldLayoutId xmlns:r="http://schemas.openxmlformats.org/officeDocument/2006/relationships" id="2147483653" r:id="Rb8bf672dfde1436f"/>
    <p:sldLayoutId xmlns:r="http://schemas.openxmlformats.org/officeDocument/2006/relationships" id="2147483654" r:id="R3c1b6b4a5e91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9b54f56bc04c45" /><Relationship Type="http://schemas.openxmlformats.org/officeDocument/2006/relationships/notesSlide" Target="/ppt/notesSlides/notesSlide1.xml" Id="Rce67b49fd2ba49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79cdae9e574aeb" /><Relationship Type="http://schemas.openxmlformats.org/officeDocument/2006/relationships/chart" Target="/ppt/slides/charts/chart1.xml" Id="R0b7ff914fd41489e" /><Relationship Type="http://schemas.openxmlformats.org/officeDocument/2006/relationships/notesSlide" Target="/ppt/notesSlides/notesSlide2.xml" Id="R9a1c7b3d302247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227f4631c440a" /><Relationship Type="http://schemas.openxmlformats.org/officeDocument/2006/relationships/chart" Target="/ppt/slides/charts/chart2.xml" Id="Ra9488ea357d548f2" /><Relationship Type="http://schemas.openxmlformats.org/officeDocument/2006/relationships/notesSlide" Target="/ppt/notesSlides/notesSlide3.xml" Id="R9ea379ff2bc045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fe630d1ee74855" /><Relationship Type="http://schemas.openxmlformats.org/officeDocument/2006/relationships/notesSlide" Target="/ppt/notesSlides/notesSlide4.xml" Id="R7d95e720ef454c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486efdcd5844e8" /><Relationship Type="http://schemas.openxmlformats.org/officeDocument/2006/relationships/notesSlide" Target="/ppt/notesSlides/notesSlide5.xml" Id="R0a3de2314cea46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b8b452e8b498d" /><Relationship Type="http://schemas.openxmlformats.org/officeDocument/2006/relationships/notesSlide" Target="/ppt/notesSlides/notesSlide6.xml" Id="Rbbfbd89d65e24f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93f64496fb4998" /><Relationship Type="http://schemas.openxmlformats.org/officeDocument/2006/relationships/notesSlide" Target="/ppt/notesSlides/notesSlide7.xml" Id="R8a6cfec42aac4f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97fb22e4c34cbf" /><Relationship Type="http://schemas.openxmlformats.org/officeDocument/2006/relationships/notesSlide" Target="/ppt/notesSlides/notesSlide8.xml" Id="R45c3dd3b732f4b8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percentStacked"/>
        <c:varyColors val="0"/>
        <c:ser>
          <c:idx val="0"/>
          <c:order val="0"/>
          <c:tx>
            <c:v>Uman</c:v>
          </c:tx>
          <c:spPr>
            <a:solidFill xmlns:a="http://schemas.openxmlformats.org/drawingml/2006/main">
              <a:srgbClr val="11243A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Antrenare (5.557)</c:v>
                </c:pt>
                <c:pt idx="1">
                  <c:v>Calibrare (1.194)</c:v>
                </c:pt>
                <c:pt idx="2">
                  <c:v>Test (1.199)</c:v>
                </c:pt>
              </c:strCache>
            </c:strRef>
          </c:cat>
          <c:val>
            <c:numRef>
              <c:f>'Chart Data'!$B$2:$B$4</c:f>
              <c:numCache>
                <c:formatCode>0%</c:formatCode>
                <c:ptCount val="3"/>
                <c:pt idx="0">
                  <c:v>3166</c:v>
                </c:pt>
                <c:pt idx="1">
                  <c:v>679</c:v>
                </c:pt>
                <c:pt idx="2">
                  <c:v>679</c:v>
                </c:pt>
              </c:numCache>
            </c:numRef>
          </c:val>
        </c:ser>
        <c:ser>
          <c:idx val="1"/>
          <c:order val="1"/>
          <c:tx>
            <c:v>AI</c:v>
          </c:tx>
          <c:spPr>
            <a:solidFill xmlns:a="http://schemas.openxmlformats.org/drawingml/2006/main">
              <a:srgbClr val="168B8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Antrenare (5.557)</c:v>
                </c:pt>
                <c:pt idx="1">
                  <c:v>Calibrare (1.194)</c:v>
                </c:pt>
                <c:pt idx="2">
                  <c:v>Test (1.199)</c:v>
                </c:pt>
              </c:strCache>
            </c:strRef>
          </c:cat>
          <c:val>
            <c:numRef>
              <c:f>'Chart Data'!$D$2:$D$4</c:f>
              <c:numCache>
                <c:formatCode>0%</c:formatCode>
                <c:ptCount val="3"/>
                <c:pt idx="0">
                  <c:v>2391</c:v>
                </c:pt>
                <c:pt idx="1">
                  <c:v>515</c:v>
                </c:pt>
                <c:pt idx="2">
                  <c:v>520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11243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varyColors val="0"/>
        <c:ser>
          <c:idx val="0"/>
          <c:order val="0"/>
          <c:tx>
            <c:v>Texte AI</c:v>
          </c:tx>
          <c:spPr>
            <a:solidFill xmlns:a="http://schemas.openxmlformats.org/drawingml/2006/main">
              <a:srgbClr val="245CB3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Qwen3.5</c:v>
                </c:pt>
                <c:pt idx="1">
                  <c:v>Qwen2.5</c:v>
                </c:pt>
                <c:pt idx="2">
                  <c:v>Gemma 3</c:v>
                </c:pt>
                <c:pt idx="3">
                  <c:v>ChatGPT web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1635</c:v>
                </c:pt>
                <c:pt idx="1">
                  <c:v>720</c:v>
                </c:pt>
                <c:pt idx="2">
                  <c:v>369</c:v>
                </c:pt>
                <c:pt idx="3">
                  <c:v>702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 b="1">
                  <a:solidFill>
                    <a:srgbClr val="11243A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0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0E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30A0D-EC6A-4FC5-B561-5819F25E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95C69-D6EE-4F94-93BF-E6A63796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DE934-7053-4399-BC69-4719D4D2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C9E9"/>
                </a:solidFill>
                <a:latin typeface="Arial"/>
                <a:ea typeface="Arial"/>
                <a:cs typeface="Arial"/>
              </a:rPr>
              <a:t>SDCGIA / TEMA 6 / EXPERIMENT V3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5101C-73F4-4A64-A52F-36D00FB1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Detectarea originii</a:t>
            </a:r>
          </a:p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textelor în limba română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5C090-3F6F-4097-AFE2-21BF87F7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Adaptarea Qwen3.5-4B cu Unsloth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B76D8-F952-4BE6-A825-3C1782D9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Corpus complet: 7.950 de texte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UNIMEDIA, Qwen, Gemma și generări ChatGPT</a:t>
            </a:r>
          </a:p>
        </p:txBody>
      </p:sp>
    </p:spTree>
    <p:extLst>
      <p:ext uri="{BB962C8B-B14F-4D97-AF65-F5344CB8AC3E}">
        <p14:creationId xmlns:p14="http://schemas.microsoft.com/office/powerpoint/2010/main" val="16054169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CF357-1966-44EE-AA82-DCA535B9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Corpusul și protocolul de evaluare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80814-5B8F-47D5-B09D-F31097A4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841FF-52E6-47AF-A458-B93FC68F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245CB3"/>
                </a:solidFill>
                <a:latin typeface="Arial"/>
                <a:ea typeface="Arial"/>
                <a:cs typeface="Arial"/>
              </a:rPr>
              <a:t>7.950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D3161-8C18-46D7-B058-6CA55B03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480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texte în corpus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8AC22-FA82-4E20-81C3-5AAD731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90950"/>
            <a:ext cx="266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4.524 umane</a:t>
            </a:r>
          </a:p>
          <a:p xmlns:a="http://schemas.openxmlformats.org/drawingml/2006/main">
            <a:pPr>
              <a:defRPr sz="2250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3.426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3FB8D-EABC-4373-BDF9-FF989D5D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Separare pe sursă și similitudine, cu păstrarea perechilor uman–AI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C0EAE-A915-4683-9323-319D5D62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UNIMEDIA, 2018. Autoratul uman rămâne o presupunere istorică.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5393F9CC-098F-4709-8BEE-4C36A287ECF7}"/>
              </a:ext>
            </a:extLst>
          </p:cNvPr>
          <p:cNvGraphicFramePr/>
          <p:nvPr/>
        </p:nvGraphicFramePr>
        <p:xfrm>
          <a:off xmlns:a="http://schemas.openxmlformats.org/drawingml/2006/main" x="571500" y="2047875"/>
          <a:ext xmlns:a="http://schemas.openxmlformats.org/drawingml/2006/main" cx="7429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7ff914fd41489e"/>
          </a:graphicData>
        </a:graphic>
      </p:graphicFrame>
    </p:spTree>
    <p:extLst>
      <p:ext uri="{BB962C8B-B14F-4D97-AF65-F5344CB8AC3E}">
        <p14:creationId xmlns:p14="http://schemas.microsoft.com/office/powerpoint/2010/main" val="16025815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2F645-3503-48E6-A4C2-EB39118F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Generarea corpusului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724D7D-8151-460F-BC02-8E928FD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9770C107-465F-4D2E-BBCB-575C921A910F}"/>
              </a:ext>
            </a:extLst>
          </p:cNvPr>
          <p:cNvGraphicFramePr/>
          <p:nvPr/>
        </p:nvGraphicFramePr>
        <p:xfrm>
          <a:off xmlns:a="http://schemas.openxmlformats.org/drawingml/2006/main" x="619125" y="1952625"/>
          <a:ext xmlns:a="http://schemas.openxmlformats.org/drawingml/2006/main" cx="6762750" cy="3095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488ea357d548f2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5332-9361-4717-A958-70B98832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90700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5CB3"/>
                </a:solidFill>
                <a:latin typeface="Arial"/>
                <a:ea typeface="Arial"/>
                <a:cs typeface="Arial"/>
              </a:rPr>
              <a:t>Prompt în română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1578E-93CD-4A68-94A5-96526A80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Temă, dată de referință</a:t>
            </a:r>
          </a:p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și entități candidate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042DD-ED86-430A-887D-64746431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Fără corpul articolului,</a:t>
            </a:r>
          </a:p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titlul original sau lista</a:t>
            </a:r>
          </a:p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faptelor esențiale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FDD85-55D9-44B2-B257-6DAEC8A4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3.426 răspunsuri AI ne goale, inclusiv variante pilot și profiluri de sampling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84244-CF15-40EE-B345-E02EDA36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Ollama și llama.cpp local. Pentru web păstrăm eticheta UI, fără parametri numerici inventați.</a:t>
            </a:r>
          </a:p>
        </p:txBody>
      </p:sp>
    </p:spTree>
    <p:extLst>
      <p:ext uri="{BB962C8B-B14F-4D97-AF65-F5344CB8AC3E}">
        <p14:creationId xmlns:p14="http://schemas.microsoft.com/office/powerpoint/2010/main" val="19282152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7D8A1-CF13-4C31-B2A5-9DB6C7D1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Adaptarea detectorului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34818-4E14-4BD1-B68D-38528B48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B753E-6CD4-4383-8E8D-135E205A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Qwen3.5-4B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EBCFE-E65B-4E0A-8668-BF6B55DD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Bază în 4 biți, adaptoare LoRA</a:t>
            </a:r>
          </a:p>
          <a:p xmlns:a="http://schemas.openxmlformats.org/drawingml/2006/main">
            <a:pPr>
              <a:defRPr sz="21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și cap de decizie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982BE6-546F-4690-83E5-8D4DB8FC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5715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2,10%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579CE-D4D6-418D-ADF1-CF6E7E82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parametri antrenați, aproximativ 64,5 milioane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1968C-B96C-4174-94A2-FAA6FF0F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9C9E9"/>
                </a:solidFill>
                <a:latin typeface="Arial"/>
                <a:ea typeface="Arial"/>
                <a:cs typeface="Arial"/>
              </a:rPr>
              <a:t>Antrenare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71125-F004-41E4-B2C0-FBC1F7B9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1460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epocă, 348 pași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Batch efectiv 16, LR 2 × 10⁻⁴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3D972-D841-4194-B1FB-E30214B6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623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9C9E9"/>
                </a:solidFill>
                <a:latin typeface="Arial"/>
                <a:ea typeface="Arial"/>
                <a:cs typeface="Arial"/>
              </a:rPr>
              <a:t>Adaptare eficientă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78D70-CD33-491A-A9CA-FC1E935C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05300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LoRA r = 16, alpha = 16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 12.288, fără trunchiere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4C192-5094-4795-8409-E5D5D002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Tesla T4 în Colab. Calea explicită K/V permite atenție eficientă pentru articolele lungi.</a:t>
            </a:r>
          </a:p>
        </p:txBody>
      </p:sp>
    </p:spTree>
    <p:extLst>
      <p:ext uri="{BB962C8B-B14F-4D97-AF65-F5344CB8AC3E}">
        <p14:creationId xmlns:p14="http://schemas.microsoft.com/office/powerpoint/2010/main" val="2769542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C4D24-77A0-40D1-A1A0-9F3F3C6C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Testul v3: 1.199 clasificări corecte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CFE24-3265-4406-BF73-7C9A0EDF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A608D9-DEEA-4206-9891-7FC5477A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Origine reală / predicție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8C8F5-8CFC-457C-8626-A6D224D264B0}"/>
              </a:ext>
            </a:extLst>
          </p:cNvPr>
          <p:cNvGraphicFramePr/>
          <p:nvPr/>
        </p:nvGraphicFramePr>
        <p:xfrm>
          <a:off xmlns:a="http://schemas.openxmlformats.org/drawingml/2006/main" x="685800" y="2333625"/>
          <a:ext xmlns:a="http://schemas.openxmlformats.org/drawingml/2006/main" cx="63436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14550"/>
                <a:gridCol w="2114550"/>
                <a:gridCol w="2114550"/>
              </a:tblGrid>
              <a:tr h="8890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Uman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Uman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450" b="1">
                          <a:solidFill>
                            <a:srgbClr val="168B8A"/>
                          </a:solidFill>
                          <a:latin typeface="Arial"/>
                          <a:ea typeface="Arial"/>
                          <a:cs typeface="Arial"/>
                        </a:rPr>
                        <a:t>679</a:t>
                      </a:r>
                    </a:p>
                  </a:txBody>
                  <a:tcPr marL="91440" marR="91440" marT="45720" marB="45720">
                    <a:solidFill>
                      <a:srgbClr val="DCED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450" b="1">
                          <a:solidFill>
                            <a:srgbClr val="B65D1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AEBDD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AI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450" b="1">
                          <a:solidFill>
                            <a:srgbClr val="B65D1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450" b="1">
                          <a:solidFill>
                            <a:srgbClr val="168B8A"/>
                          </a:solidFill>
                          <a:latin typeface="Arial"/>
                          <a:ea typeface="Arial"/>
                          <a:cs typeface="Arial"/>
                        </a:rPr>
                        <a:t>520</a:t>
                      </a:r>
                    </a:p>
                  </a:txBody>
                  <a:tcPr marL="91440" marR="91440" marT="45720" marB="45720">
                    <a:solidFill>
                      <a:srgbClr val="DCEDE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94E6B-EE53-45CB-B6E0-F7321633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defPPr>
            <a:lvl1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1pPr>
            <a:lvl2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2pPr>
            <a:lvl3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3pPr>
            <a:lvl4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4pPr>
            <a:lvl5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5pPr>
            <a:lvl6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6pPr>
            <a:lvl7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7pPr>
            <a:lvl8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8pPr>
            <a:lvl9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85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245CB3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0BE60E-42E3-4219-85BD-0A8A9CD9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3372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acuratețe pe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9F148-8703-4267-AB0E-A6CE0E2A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0%   fals pozitive</a:t>
            </a:r>
          </a:p>
          <a:p xmlns:a="http://schemas.openxmlformats.org/drawingml/2006/main">
            <a:pPr>
              <a:defRPr sz="21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100%   recall AI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92665-AF2C-4895-AF38-89E0FB89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243A"/>
                </a:solidFill>
                <a:latin typeface="Arial"/>
                <a:ea typeface="Arial"/>
                <a:cs typeface="Arial"/>
              </a:rPr>
              <a:t>Prag fix 0,5. Calibrare pe 1.194 de exemple separate, fără ajustări pe test.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7C54C-DD68-41C3-BBEA-0BD9274F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679 texte umane și 520 AI. Nicio eroare observată în testul intern.</a:t>
            </a:r>
          </a:p>
        </p:txBody>
      </p:sp>
    </p:spTree>
    <p:extLst>
      <p:ext uri="{BB962C8B-B14F-4D97-AF65-F5344CB8AC3E}">
        <p14:creationId xmlns:p14="http://schemas.microsoft.com/office/powerpoint/2010/main" val="13894447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02531-4A5E-405B-BBAD-34FCD3C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Rezultate pe generatoarele locale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97627-A669-4486-AC39-3034682C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7B110F-2CA7-457D-A61A-2F1E56E967A1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81625"/>
                <a:gridCol w="3476625"/>
                <a:gridCol w="1962150"/>
              </a:tblGrid>
              <a:tr h="355023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Model-sursă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detectate / test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FP / FN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Qwen3.5 0.8B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132 / 132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Qwen3.5 2B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83 / 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Qwen3.5 4B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33 / 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Qwen2.5 0.5B / llama.cpp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31 / 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Qwen2.5 1.5B / llama.cpp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31 / 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Qwen2.5 3B / llama.cpp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31 / 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Qwen2.5 1.5B / Ollama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8 /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Qwen2.5 3B / Ollama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8 /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Gemma 3 270M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24 / 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502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Gemma 3 1B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34 / 34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9F9DD-3AD1-4C4F-AF7A-041C4405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5CB3"/>
                </a:solidFill>
                <a:latin typeface="Arial"/>
                <a:ea typeface="Arial"/>
                <a:cs typeface="Arial"/>
              </a:rPr>
              <a:t>100% recall AI în fiecare grup local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A135E-5D1E-483B-A515-E228E3F3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3887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Controalele umane asociate se pot repeta între grupuri. Rezultatele nu stabilesc un clasament.</a:t>
            </a:r>
          </a:p>
        </p:txBody>
      </p:sp>
    </p:spTree>
    <p:extLst>
      <p:ext uri="{BB962C8B-B14F-4D97-AF65-F5344CB8AC3E}">
        <p14:creationId xmlns:p14="http://schemas.microsoft.com/office/powerpoint/2010/main" val="6188566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CE1C5-CA91-482E-9C91-93A2E798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124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43A"/>
                </a:solidFill>
                <a:latin typeface="Arial"/>
                <a:ea typeface="Arial"/>
                <a:cs typeface="Arial"/>
              </a:rPr>
              <a:t>Rezultate pe generările ChatGPT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5E491-FBA1-4FB3-BB21-EE2F0EA1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1C757-0861-4561-9BC3-40B84876619B}"/>
              </a:ext>
            </a:extLst>
          </p:cNvPr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81625"/>
                <a:gridCol w="3476625"/>
                <a:gridCol w="1962150"/>
              </a:tblGrid>
              <a:tr h="428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Eticheta înregistrată în interfață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detectate / test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FP / FN</a:t>
                      </a:r>
                    </a:p>
                  </a:txBody>
                  <a:tcPr marL="91440" marR="91440" marT="45720" marB="45720">
                    <a:solidFill>
                      <a:srgbClr val="11243A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GPT-5.6 Luna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GPT-5.6 Sol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GPT-5.6 Terra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GPT-6 Astra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GPT-6 Luna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GPT-6 Sol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GPT-6.1 Sol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15 / 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243A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DF681-E85A-45D7-9F8F-49DDB55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45C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CB3"/>
                </a:solidFill>
                <a:latin typeface="Arial"/>
                <a:ea typeface="Arial"/>
                <a:cs typeface="Arial"/>
              </a:rPr>
              <a:t>15 texte AI în fiecare grup, toate detectate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D16D6-7BD9-48B4-A3CF-FF01BCEA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Modelele apar și în antrenare. Numele web sunt etichete UI, nu identificatori API certificați.</a:t>
            </a:r>
          </a:p>
          <a:p xmlns:a="http://schemas.openxmlformats.org/drawingml/2006/main">
            <a:pPr>
              <a:defRPr sz="1575" b="0">
                <a:solidFill>
                  <a:srgbClr val="5F6F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F80"/>
                </a:solidFill>
                <a:latin typeface="Arial"/>
                <a:ea typeface="Arial"/>
                <a:cs typeface="Arial"/>
              </a:rPr>
              <a:t>Cele două texte pilot cu model neidentificat nu apar în test.</a:t>
            </a:r>
          </a:p>
        </p:txBody>
      </p:sp>
    </p:spTree>
    <p:extLst>
      <p:ext uri="{BB962C8B-B14F-4D97-AF65-F5344CB8AC3E}">
        <p14:creationId xmlns:p14="http://schemas.microsoft.com/office/powerpoint/2010/main" val="8573502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42802-DB62-4607-86E8-3EAE89B6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Concluzii și reproducere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DFF4F-3CEE-4C7F-BB4E-27D6EEBF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6B19C-EF3E-4DAA-8B1F-A53FB873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1057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Performanță ridicată</a:t>
            </a:r>
          </a:p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în corpusul studiat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16D3B-04C5-4227-BF03-5FF47443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O singură publicație și generatoare cunoscute limitează generalizarea.</a:t>
            </a:r>
          </a:p>
          <a:p xmlns:a="http://schemas.openxmlformats.org/drawingml/2006/main">
            <a:pPr>
              <a:defRPr sz="2100" b="0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C9E9"/>
                </a:solidFill>
                <a:latin typeface="Arial"/>
                <a:ea typeface="Arial"/>
                <a:cs typeface="Arial"/>
              </a:rPr>
              <a:t>Împărțirea v3 reutilizează surse evaluate anterior. Testul rămâne exploratoriu.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B642C-29B2-41D4-8A26-68E03274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Codul, textele și setările sunt disponibile pentru rulare în Colab.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A036B-0586-4D2B-800F-F2E7F343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9C9E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9C9E9"/>
                </a:solidFill>
                <a:latin typeface="Arial"/>
                <a:ea typeface="Arial"/>
                <a:cs typeface="Arial"/>
              </a:rPr>
              <a:t>github.com/Neculai13/SDCGIA-v3</a:t>
            </a:r>
          </a:p>
        </p:txBody>
      </p:sp>
    </p:spTree>
    <p:extLst>
      <p:ext uri="{BB962C8B-B14F-4D97-AF65-F5344CB8AC3E}">
        <p14:creationId xmlns:p14="http://schemas.microsoft.com/office/powerpoint/2010/main" val="11875708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2026-10-23T10:16:11.1620000Z</dcterms:created>
  <dcterms:modified xsi:type="dcterms:W3CDTF">2026-10-23T10:16:11.1620000Z</dcterms:modified>
</coreProperties>
</file>